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9" r:id="rId1"/>
  </p:sldMasterIdLst>
  <p:handoutMasterIdLst>
    <p:handoutMasterId r:id="rId18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906000" cy="6858000" type="A4"/>
  <p:notesSz cx="6858000" cy="994568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4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ane DERVELOY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04" autoAdjust="0"/>
    <p:restoredTop sz="94660"/>
  </p:normalViewPr>
  <p:slideViewPr>
    <p:cSldViewPr>
      <p:cViewPr varScale="1">
        <p:scale>
          <a:sx n="74" d="100"/>
          <a:sy n="74" d="100"/>
        </p:scale>
        <p:origin x="1546" y="28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884" y="-108"/>
      </p:cViewPr>
      <p:guideLst>
        <p:guide orient="horz" pos="3134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B1C61EF-7E60-0CA6-505B-CED352A18B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007" tIns="48004" rIns="96007" bIns="48004" numCol="1" anchor="t" anchorCtr="0" compatLnSpc="1">
            <a:prstTxWarp prst="textNoShape">
              <a:avLst/>
            </a:prstTxWarp>
          </a:bodyPr>
          <a:lstStyle>
            <a:lvl1pPr algn="l" defTabSz="96043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EF72D90-E386-85EF-6651-4E3672DB77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007" tIns="48004" rIns="96007" bIns="48004" numCol="1" anchor="t" anchorCtr="0" compatLnSpc="1">
            <a:prstTxWarp prst="textNoShape">
              <a:avLst/>
            </a:prstTxWarp>
          </a:bodyPr>
          <a:lstStyle>
            <a:lvl1pPr algn="r" defTabSz="96043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A0EE756-E726-ADC4-9EFA-933E8D107D1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800"/>
            <a:ext cx="29718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007" tIns="48004" rIns="96007" bIns="48004" numCol="1" anchor="b" anchorCtr="0" compatLnSpc="1">
            <a:prstTxWarp prst="textNoShape">
              <a:avLst/>
            </a:prstTxWarp>
          </a:bodyPr>
          <a:lstStyle>
            <a:lvl1pPr algn="l" defTabSz="96043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656F6398-D9CF-9784-B100-183DB4BB186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8800"/>
            <a:ext cx="297180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007" tIns="48004" rIns="96007" bIns="48004" numCol="1" anchor="b" anchorCtr="0" compatLnSpc="1">
            <a:prstTxWarp prst="textNoShape">
              <a:avLst/>
            </a:prstTxWarp>
          </a:bodyPr>
          <a:lstStyle>
            <a:lvl1pPr algn="r" defTabSz="96043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3DB206A6-7D8E-564E-8BC4-A52BAF7252B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7B84CBC2-6CEF-EC1A-2A90-41E649B44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343400"/>
            <a:ext cx="3140075" cy="334963"/>
          </a:xfrm>
          <a:prstGeom prst="rect">
            <a:avLst/>
          </a:prstGeom>
          <a:noFill/>
          <a:ln>
            <a:noFill/>
          </a:ln>
          <a:effectLst/>
        </p:spPr>
        <p:txBody>
          <a:bodyPr tIns="0" bIns="0">
            <a:spAutoFit/>
          </a:bodyPr>
          <a:lstStyle>
            <a:lvl1pPr algn="ctr"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defRPr/>
            </a:pPr>
            <a:endParaRPr lang="fr-FR" altLang="fr-FR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ctrTitle"/>
          </p:nvPr>
        </p:nvSpPr>
        <p:spPr bwMode="black">
          <a:xfrm>
            <a:off x="1143000" y="533400"/>
            <a:ext cx="6324600" cy="1244600"/>
          </a:xfrm>
        </p:spPr>
        <p:txBody>
          <a:bodyPr/>
          <a:lstStyle>
            <a:lvl1pPr>
              <a:defRPr sz="3200">
                <a:solidFill>
                  <a:srgbClr val="830050"/>
                </a:solidFill>
              </a:defRPr>
            </a:lvl1pPr>
          </a:lstStyle>
          <a:p>
            <a:pPr lvl="0"/>
            <a:r>
              <a:rPr lang="en-US" altLang="fr-FR" noProof="0"/>
              <a:t>Horaklès</a:t>
            </a:r>
            <a:br>
              <a:rPr lang="en-US" altLang="fr-FR" noProof="0"/>
            </a:br>
            <a:r>
              <a:rPr lang="en-US" altLang="fr-FR" noProof="0"/>
              <a:t>Atelier de pratique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143000" y="1828800"/>
            <a:ext cx="5791200" cy="1752600"/>
          </a:xfrm>
        </p:spPr>
        <p:txBody>
          <a:bodyPr/>
          <a:lstStyle>
            <a:lvl1pPr>
              <a:defRPr b="1">
                <a:solidFill>
                  <a:srgbClr val="830050"/>
                </a:solidFill>
              </a:defRPr>
            </a:lvl1pPr>
          </a:lstStyle>
          <a:p>
            <a:pPr lvl="0"/>
            <a:r>
              <a:rPr lang="en-US" altLang="fr-FR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868355902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94430903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5145365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52500" y="1752600"/>
            <a:ext cx="4064000" cy="434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8900" y="1752600"/>
            <a:ext cx="4064000" cy="434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5779221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6155014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249173571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92689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1936968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0517658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186972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162800" y="608013"/>
            <a:ext cx="2070100" cy="548798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52500" y="608013"/>
            <a:ext cx="6057900" cy="548798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01762707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0">
            <a:extLst>
              <a:ext uri="{FF2B5EF4-FFF2-40B4-BE49-F238E27FC236}">
                <a16:creationId xmlns:a16="http://schemas.microsoft.com/office/drawing/2014/main" id="{0D44A516-3B8B-CB3A-A3DF-EB55FE865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608013"/>
            <a:ext cx="74803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Cliquez pour modifier le style du titre</a:t>
            </a:r>
          </a:p>
        </p:txBody>
      </p:sp>
      <p:sp>
        <p:nvSpPr>
          <p:cNvPr id="1027" name="Rectangle 2051">
            <a:extLst>
              <a:ext uri="{FF2B5EF4-FFF2-40B4-BE49-F238E27FC236}">
                <a16:creationId xmlns:a16="http://schemas.microsoft.com/office/drawing/2014/main" id="{B796FA2A-5C91-68A3-B057-E23E90F45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2500" y="1752600"/>
            <a:ext cx="82804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Cliquez pour modifier les styles du texte du masque</a:t>
            </a:r>
          </a:p>
          <a:p>
            <a:pPr lvl="1"/>
            <a:r>
              <a:rPr lang="en-US" altLang="fr-FR"/>
              <a:t>Deuxième niveau</a:t>
            </a:r>
          </a:p>
          <a:p>
            <a:pPr lvl="2"/>
            <a:r>
              <a:rPr lang="en-US" altLang="fr-FR"/>
              <a:t>Troisième niveau</a:t>
            </a:r>
          </a:p>
          <a:p>
            <a:pPr lvl="3"/>
            <a:r>
              <a:rPr lang="en-US" altLang="fr-FR"/>
              <a:t>Quatrième niveau</a:t>
            </a:r>
          </a:p>
          <a:p>
            <a:pPr lvl="4"/>
            <a:r>
              <a:rPr lang="en-US" altLang="fr-FR"/>
              <a:t>Cinquième niveau</a:t>
            </a:r>
          </a:p>
        </p:txBody>
      </p:sp>
      <p:sp>
        <p:nvSpPr>
          <p:cNvPr id="1028" name="Line 2052">
            <a:extLst>
              <a:ext uri="{FF2B5EF4-FFF2-40B4-BE49-F238E27FC236}">
                <a16:creationId xmlns:a16="http://schemas.microsoft.com/office/drawing/2014/main" id="{FDF45364-D65D-B48A-E19C-06E1FE7F6A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1484313"/>
            <a:ext cx="7594600" cy="0"/>
          </a:xfrm>
          <a:prstGeom prst="line">
            <a:avLst/>
          </a:prstGeom>
          <a:noFill/>
          <a:ln w="25400">
            <a:solidFill>
              <a:srgbClr val="830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1381" name="Text Box 2053">
            <a:extLst>
              <a:ext uri="{FF2B5EF4-FFF2-40B4-BE49-F238E27FC236}">
                <a16:creationId xmlns:a16="http://schemas.microsoft.com/office/drawing/2014/main" id="{8C4D6A68-2A49-2490-9E1A-B13506F32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175" y="6381750"/>
            <a:ext cx="863600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tIns="0" bIns="0">
            <a:spAutoFit/>
          </a:bodyPr>
          <a:lstStyle>
            <a:lvl1pPr algn="l" defTabSz="838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defTabSz="838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defTabSz="838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defTabSz="838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defTabSz="838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CDF52F7D-9ED1-EB41-9CE9-802B79F2D61F}" type="slidenum">
              <a:rPr lang="fr-FR" altLang="fr-FR" sz="1200" smtClean="0">
                <a:solidFill>
                  <a:srgbClr val="000066"/>
                </a:solidFill>
                <a:latin typeface="Tahoma" panose="020B0604030504040204" pitchFamily="34" charset="0"/>
              </a:rPr>
              <a:pPr algn="r">
                <a:spcBef>
                  <a:spcPct val="50000"/>
                </a:spcBef>
                <a:defRPr/>
              </a:pPr>
              <a:t>‹N°›</a:t>
            </a:fld>
            <a:endParaRPr lang="fr-FR" altLang="fr-FR" sz="12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43" r:id="rId2"/>
    <p:sldLayoutId id="2147484144" r:id="rId3"/>
    <p:sldLayoutId id="2147484145" r:id="rId4"/>
    <p:sldLayoutId id="2147484146" r:id="rId5"/>
    <p:sldLayoutId id="2147484147" r:id="rId6"/>
    <p:sldLayoutId id="2147484148" r:id="rId7"/>
    <p:sldLayoutId id="2147484149" r:id="rId8"/>
    <p:sldLayoutId id="2147484150" r:id="rId9"/>
    <p:sldLayoutId id="2147484151" r:id="rId10"/>
    <p:sldLayoutId id="2147484152" r:id="rId11"/>
  </p:sldLayoutIdLst>
  <p:transition spd="slow"/>
  <p:txStyles>
    <p:titleStyle>
      <a:lvl1pPr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kern="1200">
          <a:solidFill>
            <a:srgbClr val="093A80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2pPr>
      <a:lvl3pPr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3pPr>
      <a:lvl4pPr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4pPr>
      <a:lvl5pPr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5pPr>
      <a:lvl6pPr marL="457200"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6pPr>
      <a:lvl7pPr marL="914400"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7pPr>
      <a:lvl8pPr marL="1371600"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8pPr>
      <a:lvl9pPr marL="1828800" algn="l" defTabSz="957263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>
          <a:solidFill>
            <a:srgbClr val="093A80"/>
          </a:solidFill>
          <a:latin typeface="Arial Black" panose="020B0A04020102020204" pitchFamily="34" charset="0"/>
        </a:defRPr>
      </a:lvl9pPr>
    </p:titleStyle>
    <p:bodyStyle>
      <a:lvl1pPr indent="1588" algn="l" defTabSz="957263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chemeClr val="tx2"/>
        </a:buClr>
        <a:buSzPct val="135000"/>
        <a:buFont typeface="Arial" panose="020B0604020202020204" pitchFamily="34" charset="0"/>
        <a:defRPr sz="1600" kern="1200">
          <a:solidFill>
            <a:srgbClr val="000066"/>
          </a:solidFill>
          <a:latin typeface="+mn-lt"/>
          <a:ea typeface="+mn-ea"/>
          <a:cs typeface="+mn-cs"/>
        </a:defRPr>
      </a:lvl1pPr>
      <a:lvl2pPr marL="838200" indent="-298450" algn="l" defTabSz="957263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chemeClr val="tx1"/>
        </a:buClr>
        <a:buSzPct val="75000"/>
        <a:buFont typeface="Arial" panose="020B0604020202020204" pitchFamily="34" charset="0"/>
        <a:buChar char="■"/>
        <a:defRPr sz="1600" kern="1200">
          <a:solidFill>
            <a:srgbClr val="000066"/>
          </a:solidFill>
          <a:latin typeface="+mn-lt"/>
          <a:ea typeface="+mn-ea"/>
          <a:cs typeface="+mn-cs"/>
        </a:defRPr>
      </a:lvl2pPr>
      <a:lvl3pPr marL="1257300" indent="-239713" algn="l" defTabSz="957263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anose="020B0604020202020204" pitchFamily="34" charset="0"/>
        <a:buChar char="•"/>
        <a:defRPr sz="1600" kern="1200">
          <a:solidFill>
            <a:srgbClr val="000066"/>
          </a:solidFill>
          <a:latin typeface="+mn-lt"/>
          <a:ea typeface="+mn-ea"/>
          <a:cs typeface="+mn-cs"/>
        </a:defRPr>
      </a:lvl3pPr>
      <a:lvl4pPr marL="1676400" indent="-239713" algn="l" defTabSz="957263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93A80"/>
        </a:buClr>
        <a:buSzPct val="75000"/>
        <a:buChar char="–"/>
        <a:defRPr sz="1600" kern="1200">
          <a:solidFill>
            <a:srgbClr val="000066"/>
          </a:solidFill>
          <a:latin typeface="+mn-lt"/>
          <a:ea typeface="+mn-ea"/>
          <a:cs typeface="+mn-cs"/>
        </a:defRPr>
      </a:lvl4pPr>
      <a:lvl5pPr marL="2154238" indent="-238125" algn="l" defTabSz="957263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l"/>
        <a:defRPr sz="1600" kern="1200">
          <a:solidFill>
            <a:srgbClr val="0000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cssref/pr_text_text-align.php" TargetMode="External"/><Relationship Id="rId5" Type="http://schemas.openxmlformats.org/officeDocument/2006/relationships/hyperlink" Target="https://www.w3schools.com/cssref/pr_text_color.php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ssref/pr_margin-left.php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w3schools.com/cssref/pr_margin-bottom.php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cssref/pr_margin-right.php" TargetMode="External"/><Relationship Id="rId5" Type="http://schemas.openxmlformats.org/officeDocument/2006/relationships/hyperlink" Target="https://www.w3schools.com/cssref/pr_margin-top.php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www.w3schools.com/cssref/pr_margin.php" TargetMode="Externa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www.w3schools.com/cssref/pr_margin.php" TargetMode="Externa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www.w3schools.com/cssref/pr_margin.php" TargetMode="Externa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hyperlink" Target="https://www.w3schools.com/cssref/pr_margin.php" TargetMode="Externa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hyperlink" Target="https://www.w3schools.com/cssref/pr_padding.php" TargetMode="Externa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cssref/pr_dim_width.php" TargetMode="External"/><Relationship Id="rId5" Type="http://schemas.openxmlformats.org/officeDocument/2006/relationships/hyperlink" Target="https://www.w3schools.com/cssref/pr_dim_height.php" TargetMode="Externa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B52A234-E0C1-A6D9-CA73-5E1FA65A2B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D21893E0-31AA-7C7A-7403-F4BB0004C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6A01CF2-2799-B51D-AD80-4C3D3DE8E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95BAE96-167B-132F-D2F2-F9D325288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7B2F769-5B51-87AE-F3D3-6C29B6CC0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5D94120-FA31-A55B-8C19-3472D6FF45AD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57EC27C-BE66-EB81-B666-E576A3D3B896}"/>
              </a:ext>
            </a:extLst>
          </p:cNvPr>
          <p:cNvSpPr txBox="1"/>
          <p:nvPr/>
        </p:nvSpPr>
        <p:spPr>
          <a:xfrm>
            <a:off x="1333007" y="1364001"/>
            <a:ext cx="7346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règle CSS se compose d'un sélecteur et d'un bloc de déclaration:</a:t>
            </a:r>
          </a:p>
        </p:txBody>
      </p:sp>
      <p:pic>
        <p:nvPicPr>
          <p:cNvPr id="8" name="Image 7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F7E3E1DD-A970-DEAB-42D8-6D9EE5892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521" y="1671123"/>
            <a:ext cx="6963747" cy="179095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353E2F6-06B0-5B73-B74B-89873650C4B8}"/>
              </a:ext>
            </a:extLst>
          </p:cNvPr>
          <p:cNvSpPr txBox="1"/>
          <p:nvPr/>
        </p:nvSpPr>
        <p:spPr>
          <a:xfrm>
            <a:off x="990600" y="3693507"/>
            <a:ext cx="88569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Le sélecteur pointe vers l'élément HTML que vous voulez styler.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Le bloc de déclaration contient une ou plusieurs déclarations séparées par des points-virgules.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Chaque déclaration comprend un nom de propriété CSS et une valeur, séparés par un côlon.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Plusieurs déclarations CSS sont séparées par des points-virgules et une déclaration Les blocs sont entourés d'orthèses bouclées.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0D8D-1747-D142-FCD8-C4CC55ED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531FDCF-9636-6DD8-71C1-534B91C550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377460D8-57B1-93AD-9F34-4A635C1BF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DC2685-8CB9-E63B-82D4-85659CFD5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C0A6F31-1717-6BA0-FBE3-8C7DE965F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A88ED10-825C-1280-E2CA-4E9DA38622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2B0CB66-7847-A0F1-4BE0-0815862CF36C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DACB51C-6993-38AD-3045-662E1F13B51B}"/>
              </a:ext>
            </a:extLst>
          </p:cNvPr>
          <p:cNvSpPr txBox="1"/>
          <p:nvPr/>
        </p:nvSpPr>
        <p:spPr>
          <a:xfrm>
            <a:off x="963829" y="4221088"/>
            <a:ext cx="86700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ourier New" panose="02070309020205020404" pitchFamily="49" charset="0"/>
              </a:rPr>
              <a:t>P </a:t>
            </a:r>
            <a:r>
              <a:rPr lang="fr-FR" dirty="0"/>
              <a:t>est un sélecteur en CSS (il pointe vers l'élément HTML que vous voulez styler: &lt;p&gt;).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latin typeface="Courier New" panose="02070309020205020404" pitchFamily="49" charset="0"/>
                <a:hlinkClick r:id="rId5"/>
              </a:rPr>
              <a:t>Color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est une propriété, et </a:t>
            </a:r>
            <a:r>
              <a:rPr lang="fr-FR" dirty="0" err="1">
                <a:latin typeface="Courier New" panose="02070309020205020404" pitchFamily="49" charset="0"/>
              </a:rPr>
              <a:t>red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Est la valeur de propriété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latin typeface="Courier New" panose="02070309020205020404" pitchFamily="49" charset="0"/>
                <a:hlinkClick r:id="rId6"/>
              </a:rPr>
              <a:t>text-align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est une propriété, et </a:t>
            </a:r>
            <a:r>
              <a:rPr lang="fr-FR" dirty="0">
                <a:latin typeface="Courier New" panose="02070309020205020404" pitchFamily="49" charset="0"/>
              </a:rPr>
              <a:t>center </a:t>
            </a:r>
            <a:r>
              <a:rPr lang="fr-FR" dirty="0"/>
              <a:t>Est la valeur de propriété</a:t>
            </a:r>
          </a:p>
        </p:txBody>
      </p:sp>
      <p:pic>
        <p:nvPicPr>
          <p:cNvPr id="14" name="Image 13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ECCB2AF1-4383-9FE6-6696-D28E654FE0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891" y="2133600"/>
            <a:ext cx="4388911" cy="168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86680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C69C-1C42-8B7A-7B63-241905E3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434BFF-A454-4A95-A3A4-09178C04E9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8A1988EF-6250-3539-89BF-70809A1B1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F2D6C0F-5919-E577-494D-FBB06F0D6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329EEAB-7F7A-D210-089B-9D7023B86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5230514-A5DA-BF9C-1553-C2B0BF5EA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2CDEE08-3695-A55C-062C-BAD07DF5FE16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99FFE8-B310-E64F-F4CF-FCE48E321245}"/>
              </a:ext>
            </a:extLst>
          </p:cNvPr>
          <p:cNvSpPr txBox="1"/>
          <p:nvPr/>
        </p:nvSpPr>
        <p:spPr>
          <a:xfrm>
            <a:off x="3610594" y="1669433"/>
            <a:ext cx="2581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Marges CSS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D6A70F-1243-8C2B-6718-08987EDE3274}"/>
              </a:ext>
            </a:extLst>
          </p:cNvPr>
          <p:cNvSpPr txBox="1"/>
          <p:nvPr/>
        </p:nvSpPr>
        <p:spPr>
          <a:xfrm>
            <a:off x="990600" y="2780928"/>
            <a:ext cx="83957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Les propriétés de marge CSS sont utilisées pour créer de l'espace autour des éléments, en dehors de toute frontière définie.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Les marges définissent la distance entre la frontière d'un élément et l'environnement éléments.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Avec CSS, vous avez un contrôle total sur les marges.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CSS a des propriétés pour définir la marge pour chaque côté individuel d'un élément (en haut, à droite, en bas et à gauche), et une propriété abrégée pour définir toutes les propriétés de marge en une seule déclaration</a:t>
            </a:r>
          </a:p>
        </p:txBody>
      </p:sp>
    </p:spTree>
    <p:extLst>
      <p:ext uri="{BB962C8B-B14F-4D97-AF65-F5344CB8AC3E}">
        <p14:creationId xmlns:p14="http://schemas.microsoft.com/office/powerpoint/2010/main" val="76181333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1782-A80E-4F0B-06F2-DD4F3A79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7D52F32-DC8A-A8F6-85F0-718ACBCDCF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0A56559D-F442-ADD8-65F7-999399567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C0853E-40CB-214E-B682-017ECF193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92F2207-3BC1-8603-D866-ACC80F438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673B0A4-5268-27B1-6674-EBA346EEF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ABFA3CD-C10E-F116-55CF-648EF0CDDE36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1A23841-6642-23AA-3647-1355E2A8FEE0}"/>
              </a:ext>
            </a:extLst>
          </p:cNvPr>
          <p:cNvSpPr txBox="1"/>
          <p:nvPr/>
        </p:nvSpPr>
        <p:spPr>
          <a:xfrm>
            <a:off x="1977541" y="1560479"/>
            <a:ext cx="5950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Marge - Côtés individuels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9E9AADA-079E-19FE-B106-A7E95A6ED2DA}"/>
              </a:ext>
            </a:extLst>
          </p:cNvPr>
          <p:cNvSpPr txBox="1"/>
          <p:nvPr/>
        </p:nvSpPr>
        <p:spPr>
          <a:xfrm>
            <a:off x="1195763" y="2937053"/>
            <a:ext cx="888607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000" dirty="0"/>
              <a:t>CSS a des propriétés pour spécifier la marge pour chaque côté d'un élément:</a:t>
            </a:r>
            <a:br>
              <a:rPr lang="fr-FR" sz="2000" dirty="0"/>
            </a:b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Courier New" panose="02070309020205020404" pitchFamily="49" charset="0"/>
                <a:hlinkClick r:id="rId5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hlinkClick r:id="rId5"/>
              </a:rPr>
              <a:t>margin</a:t>
            </a:r>
            <a:r>
              <a:rPr lang="fr-FR" sz="2000" dirty="0">
                <a:latin typeface="Courier New" panose="02070309020205020404" pitchFamily="49" charset="0"/>
                <a:hlinkClick r:id="rId5"/>
              </a:rPr>
              <a:t>-top</a:t>
            </a:r>
            <a:r>
              <a:rPr lang="fr-FR" sz="2000" dirty="0"/>
              <a:t>- définit la marge supérieure d'un élément</a:t>
            </a:r>
            <a:br>
              <a:rPr lang="fr-FR" sz="2000" dirty="0"/>
            </a:b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Courier New" panose="02070309020205020404" pitchFamily="49" charset="0"/>
                <a:hlinkClick r:id="rId6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hlinkClick r:id="rId6"/>
              </a:rPr>
              <a:t>margin</a:t>
            </a:r>
            <a:r>
              <a:rPr lang="fr-FR" sz="2000" dirty="0">
                <a:latin typeface="Courier New" panose="02070309020205020404" pitchFamily="49" charset="0"/>
                <a:hlinkClick r:id="rId6"/>
              </a:rPr>
              <a:t>-right</a:t>
            </a:r>
            <a:r>
              <a:rPr lang="fr-FR" sz="2000" dirty="0"/>
              <a:t>- définit la marge droite d'un élément</a:t>
            </a:r>
            <a:br>
              <a:rPr lang="fr-FR" sz="2000" dirty="0"/>
            </a:b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Courier New" panose="02070309020205020404" pitchFamily="49" charset="0"/>
                <a:hlinkClick r:id="rId7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hlinkClick r:id="rId7"/>
              </a:rPr>
              <a:t>margin-bottom</a:t>
            </a:r>
            <a:r>
              <a:rPr lang="fr-FR" sz="2000" dirty="0"/>
              <a:t>- définit la marge inférieure d'un élément</a:t>
            </a:r>
            <a:br>
              <a:rPr lang="fr-FR" sz="2000" dirty="0"/>
            </a:b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Courier New" panose="02070309020205020404" pitchFamily="49" charset="0"/>
                <a:hlinkClick r:id="rId8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hlinkClick r:id="rId8"/>
              </a:rPr>
              <a:t>margin-left</a:t>
            </a:r>
            <a:r>
              <a:rPr lang="fr-FR" sz="2000" dirty="0"/>
              <a:t>- définit la marge gauche d'un élément</a:t>
            </a:r>
          </a:p>
        </p:txBody>
      </p:sp>
    </p:spTree>
    <p:extLst>
      <p:ext uri="{BB962C8B-B14F-4D97-AF65-F5344CB8AC3E}">
        <p14:creationId xmlns:p14="http://schemas.microsoft.com/office/powerpoint/2010/main" val="165296077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C6BF-C27D-36E6-4B7A-B1F9671C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7F49FF9-4598-CEE4-0451-8218080A14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CFC38B39-A4A3-76B0-42F2-B80876C2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BDC26EF-692E-F0B2-2D7E-79F274CED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DE11B6E-910F-0B4B-9741-A1D665768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D6A2BE9-7532-92B2-8B30-D456BE886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8E19039-AB03-F6F1-B9E5-22406177CDEB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E458C1D-52A0-97FA-24FF-B14AC0E6B759}"/>
              </a:ext>
            </a:extLst>
          </p:cNvPr>
          <p:cNvSpPr txBox="1"/>
          <p:nvPr/>
        </p:nvSpPr>
        <p:spPr>
          <a:xfrm>
            <a:off x="1323506" y="1625242"/>
            <a:ext cx="75899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Toutes les propriétés de marge peuvent avoir les valeurs suivantes: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E3C72D4-86B7-BCF7-5F2E-189C82632288}"/>
              </a:ext>
            </a:extLst>
          </p:cNvPr>
          <p:cNvSpPr txBox="1"/>
          <p:nvPr/>
        </p:nvSpPr>
        <p:spPr>
          <a:xfrm>
            <a:off x="972763" y="3256002"/>
            <a:ext cx="85980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 </a:t>
            </a:r>
            <a:r>
              <a:rPr lang="fr-FR" sz="2000" dirty="0">
                <a:solidFill>
                  <a:srgbClr val="FF0000"/>
                </a:solidFill>
              </a:rPr>
              <a:t>auto</a:t>
            </a:r>
            <a:r>
              <a:rPr lang="fr-FR" sz="2000" dirty="0"/>
              <a:t> - le navigateur calcule la marge</a:t>
            </a:r>
            <a:br>
              <a:rPr lang="fr-FR" sz="2000" dirty="0"/>
            </a:b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i="1" dirty="0"/>
              <a:t> </a:t>
            </a:r>
            <a:r>
              <a:rPr lang="fr-FR" sz="2000" i="1" dirty="0">
                <a:solidFill>
                  <a:srgbClr val="FF0000"/>
                </a:solidFill>
              </a:rPr>
              <a:t>longueur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/>
              <a:t>- spécifie une marge en px, pt, cm, etc.</a:t>
            </a:r>
            <a:br>
              <a:rPr lang="fr-FR" sz="2000" dirty="0"/>
            </a:b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i="1" dirty="0"/>
              <a:t> </a:t>
            </a:r>
            <a:r>
              <a:rPr lang="fr-FR" sz="2000" i="1" dirty="0">
                <a:solidFill>
                  <a:srgbClr val="FF0000"/>
                </a:solidFill>
              </a:rPr>
              <a:t>%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/>
              <a:t>- spécifie une marge en % de la largeur de l'élément contenant</a:t>
            </a:r>
            <a:br>
              <a:rPr lang="fr-FR" sz="2000" dirty="0"/>
            </a:br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 </a:t>
            </a:r>
            <a:r>
              <a:rPr lang="fr-FR" sz="2000" dirty="0">
                <a:solidFill>
                  <a:srgbClr val="FF0000"/>
                </a:solidFill>
              </a:rPr>
              <a:t>hériter</a:t>
            </a:r>
            <a:r>
              <a:rPr lang="fr-FR" sz="2000" dirty="0"/>
              <a:t> - précise que la marge doit être héritée de l'élément parent</a:t>
            </a:r>
          </a:p>
        </p:txBody>
      </p:sp>
    </p:spTree>
    <p:extLst>
      <p:ext uri="{BB962C8B-B14F-4D97-AF65-F5344CB8AC3E}">
        <p14:creationId xmlns:p14="http://schemas.microsoft.com/office/powerpoint/2010/main" val="22443447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F9C3B-A9AB-C398-BC25-A55F83F76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32A33E3-C5BA-2022-625B-834C3630BD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F1679240-9E44-5147-9DB2-0085D808E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C9AE036-67F6-A5AE-126A-261D32E05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7313887-5353-8CF2-ED57-FAA374D5F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99E3218-5200-39A7-4FDD-085E03AD4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2AEDF51-FBC4-8120-BF1C-589AC99F367D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72E872F-4156-49FC-0E71-65F1E6F57F91}"/>
              </a:ext>
            </a:extLst>
          </p:cNvPr>
          <p:cNvSpPr txBox="1"/>
          <p:nvPr/>
        </p:nvSpPr>
        <p:spPr>
          <a:xfrm>
            <a:off x="827232" y="1956137"/>
            <a:ext cx="64378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Si le 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margin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 a deux valeurs: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marge: 25px 50px;</a:t>
            </a:r>
            <a:br>
              <a:rPr lang="fr-FR" b="1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Les marges de haut en bas sont 25px</a:t>
            </a:r>
            <a:br>
              <a:rPr lang="fr-FR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Les marges droite et gauche sont de 50px</a:t>
            </a:r>
          </a:p>
        </p:txBody>
      </p:sp>
      <p:pic>
        <p:nvPicPr>
          <p:cNvPr id="8" name="Image 7" descr="Une image contenant Police, texte, blanc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EDE4A84A-F63E-B806-80B0-264092F0D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623" y="1930282"/>
            <a:ext cx="3361202" cy="149871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F4CAAD8-A865-E6E7-840B-65806C6EC28F}"/>
              </a:ext>
            </a:extLst>
          </p:cNvPr>
          <p:cNvSpPr txBox="1"/>
          <p:nvPr/>
        </p:nvSpPr>
        <p:spPr>
          <a:xfrm>
            <a:off x="4953000" y="4797152"/>
            <a:ext cx="4340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Si le 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margin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 a une valeur: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marge: 25px;</a:t>
            </a:r>
            <a:br>
              <a:rPr lang="fr-FR" b="1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Les quatre marges sont de 25px</a:t>
            </a:r>
          </a:p>
        </p:txBody>
      </p:sp>
      <p:pic>
        <p:nvPicPr>
          <p:cNvPr id="15" name="Image 14" descr="Une image contenant Police, texte, blanc, conception&#10;&#10;Le contenu généré par l’IA peut être incorrect.">
            <a:extLst>
              <a:ext uri="{FF2B5EF4-FFF2-40B4-BE49-F238E27FC236}">
                <a16:creationId xmlns:a16="http://schemas.microsoft.com/office/drawing/2014/main" id="{BE97DE60-D9E0-0110-2C92-F03748DC1B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6194" y="4838626"/>
            <a:ext cx="2762920" cy="144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0987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2630-5A81-CB55-732D-3A45D065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C65D3A0-4B08-EC40-15AD-8F450AD703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BB2D323C-DDBC-9985-B9B3-342C76F1D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F17AF37-9B31-F8A2-8A03-8DF90F3E3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4F14B83-9D79-0E1B-3E99-0C0730BFD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A83ED78-CA61-0D96-33B2-3C9F57374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24FF6A1-0BCA-1389-D4CB-691EF497C7BC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C93C94-E5A9-8605-133C-FA74B1FD8C4C}"/>
              </a:ext>
            </a:extLst>
          </p:cNvPr>
          <p:cNvSpPr txBox="1"/>
          <p:nvPr/>
        </p:nvSpPr>
        <p:spPr>
          <a:xfrm>
            <a:off x="827232" y="1956137"/>
            <a:ext cx="64378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Si le 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margin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 a deux valeurs: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marge: 25px 50px;</a:t>
            </a:r>
            <a:br>
              <a:rPr lang="fr-FR" b="1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Les marges de haut en bas sont 25px</a:t>
            </a:r>
            <a:br>
              <a:rPr lang="fr-FR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Les marges droite et gauche sont de 50px</a:t>
            </a:r>
          </a:p>
        </p:txBody>
      </p:sp>
      <p:pic>
        <p:nvPicPr>
          <p:cNvPr id="8" name="Image 7" descr="Une image contenant Police, texte, blanc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2B74AFD9-60B5-9D47-BB4D-6A78B4AEC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623" y="1930282"/>
            <a:ext cx="3361202" cy="149871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54EC841D-B2B5-13A4-13DF-841531C36E85}"/>
              </a:ext>
            </a:extLst>
          </p:cNvPr>
          <p:cNvSpPr txBox="1"/>
          <p:nvPr/>
        </p:nvSpPr>
        <p:spPr>
          <a:xfrm>
            <a:off x="4953000" y="4797152"/>
            <a:ext cx="4340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Si le 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margin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 a une valeur: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marge: 25px;</a:t>
            </a:r>
            <a:br>
              <a:rPr lang="fr-FR" b="1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Les quatre marges sont de 25px</a:t>
            </a:r>
          </a:p>
        </p:txBody>
      </p:sp>
      <p:pic>
        <p:nvPicPr>
          <p:cNvPr id="15" name="Image 14" descr="Une image contenant Police, texte, blanc, conception&#10;&#10;Le contenu généré par l’IA peut être incorrect.">
            <a:extLst>
              <a:ext uri="{FF2B5EF4-FFF2-40B4-BE49-F238E27FC236}">
                <a16:creationId xmlns:a16="http://schemas.microsoft.com/office/drawing/2014/main" id="{12EBD190-1EAE-132A-704B-3FEBD14D2F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6194" y="4838626"/>
            <a:ext cx="2762920" cy="144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80101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C18D-3B01-5432-57A5-1E51FF35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38ED4EA-F2DF-3D45-EF63-A9CD59FB43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39A88010-C068-9D87-C844-DC2EF3316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4F244C9-8DB6-0AC8-86AA-B0056B386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B1E2017-B15F-76F8-E1AE-3A3A667A7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FABE698-A44D-EC9B-A24B-D6E751742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ADB9336-58CE-58EB-BD33-475E11F08601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272E16-1B7C-6328-B5A3-53BE865851ED}"/>
              </a:ext>
            </a:extLst>
          </p:cNvPr>
          <p:cNvSpPr txBox="1"/>
          <p:nvPr/>
        </p:nvSpPr>
        <p:spPr>
          <a:xfrm>
            <a:off x="934434" y="2079247"/>
            <a:ext cx="84830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La valeur auto</a:t>
            </a:r>
            <a:br>
              <a:rPr lang="fr-FR" b="1" dirty="0"/>
            </a:br>
            <a:endParaRPr lang="fr-FR" b="1" dirty="0"/>
          </a:p>
          <a:p>
            <a:pPr>
              <a:buNone/>
            </a:pPr>
            <a:r>
              <a:rPr lang="fr-FR" dirty="0"/>
              <a:t>Vous pouvez définir le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margin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 à </a:t>
            </a:r>
            <a:r>
              <a:rPr lang="fr-FR" dirty="0">
                <a:latin typeface="Courier New" panose="02070309020205020404" pitchFamily="49" charset="0"/>
              </a:rPr>
              <a:t>auto </a:t>
            </a:r>
            <a:r>
              <a:rPr lang="fr-FR" dirty="0"/>
              <a:t>pour centrer horizontalement l'élément dans son conteneur.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L'élément prendra alors la largeur spécifiée et l'espace restant sera divisé de façon égale entre les marges gauche et droite.</a:t>
            </a:r>
          </a:p>
        </p:txBody>
      </p:sp>
      <p:pic>
        <p:nvPicPr>
          <p:cNvPr id="10" name="Image 9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6D32D215-1D44-3EF7-8290-D5D432955D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935" y="4405476"/>
            <a:ext cx="3528777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0082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E5DF-CDAC-FAE5-071B-B5B0EA25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647008-12EF-2506-D6AC-3F0EA77E1F1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2272BFB9-DC0F-E9C4-919E-79E3B1197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B970443-E511-97B6-C2D7-10D29A384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55EA044-972E-27C1-57CA-E3577155D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B467FA0-E3B8-C38E-6372-A9425BF65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7F504B4-4938-223F-35E0-DD3971A7F4F8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ADC134A-1686-749F-5B50-54F1EE9180F8}"/>
              </a:ext>
            </a:extLst>
          </p:cNvPr>
          <p:cNvSpPr txBox="1"/>
          <p:nvPr/>
        </p:nvSpPr>
        <p:spPr>
          <a:xfrm>
            <a:off x="962161" y="1956137"/>
            <a:ext cx="78779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La valeur héritée</a:t>
            </a:r>
            <a:br>
              <a:rPr lang="fr-FR" b="1" dirty="0"/>
            </a:br>
            <a:endParaRPr lang="fr-FR" b="1" dirty="0"/>
          </a:p>
          <a:p>
            <a:pPr>
              <a:buNone/>
            </a:pPr>
            <a:r>
              <a:rPr lang="fr-FR" dirty="0"/>
              <a:t>Vous pouvez définir le 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margin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 à </a:t>
            </a:r>
            <a:r>
              <a:rPr lang="fr-FR" dirty="0" err="1">
                <a:latin typeface="Courier New" panose="02070309020205020404" pitchFamily="49" charset="0"/>
              </a:rPr>
              <a:t>inherit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pour que la marge soit hérité de l'élément parent.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Cet exemple permet d'hériter de l'élément &lt;p class="ex1"&gt; gauche de l'élément parent (&lt;div&gt;):</a:t>
            </a:r>
          </a:p>
        </p:txBody>
      </p:sp>
      <p:pic>
        <p:nvPicPr>
          <p:cNvPr id="8" name="Image 7" descr="Une image contenant texte, Police, écriture manuscri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EF610B7-FC40-AD1B-1B7F-38B282AFC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521" y="3810034"/>
            <a:ext cx="3910003" cy="29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23035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9062-82A7-7BFC-E112-5243A3D5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CCFDB2C-2BDB-A56B-395C-4CFAB31E48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83BE6394-EC76-03B2-DC4C-FC5ED093C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8F6EF00-4584-91ED-F15A-68350783B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50EFC3F-FA8C-87F7-127D-BE2F40B37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E26A3A1-B686-7A24-7E91-5F03ABC9D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EC80A80-F464-A951-5704-1F7289A656F8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25FE21-8721-2B59-B4C0-5086837B8AAE}"/>
              </a:ext>
            </a:extLst>
          </p:cNvPr>
          <p:cNvSpPr txBox="1"/>
          <p:nvPr/>
        </p:nvSpPr>
        <p:spPr>
          <a:xfrm>
            <a:off x="936158" y="1956137"/>
            <a:ext cx="87556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Effondrement de marge CSS</a:t>
            </a:r>
            <a:br>
              <a:rPr lang="fr-FR" b="1" dirty="0"/>
            </a:br>
            <a:endParaRPr lang="fr-FR" b="1" dirty="0"/>
          </a:p>
          <a:p>
            <a:pPr>
              <a:buNone/>
            </a:pPr>
            <a:r>
              <a:rPr lang="fr-FR" dirty="0"/>
              <a:t>L'effondrement de la marge est lorsque deux marges s'effondrent en une seule marge.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Les marges supérieure et inférieure des éléments sont parfois effondrées en un seul une marge égale à la plus grande des deux marges.</a:t>
            </a:r>
          </a:p>
        </p:txBody>
      </p:sp>
      <p:pic>
        <p:nvPicPr>
          <p:cNvPr id="10" name="Image 9" descr="Une image contenant texte, Police, capture d’écran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19FB062B-4990-E335-EE3C-BCF83AEF2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624" y="4014265"/>
            <a:ext cx="3276600" cy="273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87862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8CF8-E53F-0B13-8590-A54B2FC5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DF539F6-E483-9540-5439-517EBE5DE3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48A4C510-A837-10D2-A14D-8B51E8857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244831-AC13-52D8-8EBD-1611E5073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5665BD2-D3C6-8EF0-BA2A-65DEF4E28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345C667-1789-D665-5F9F-E19CB9B5E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E5FFE22-AE1E-B724-6C37-09D41671DE66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074244E-ABC7-B321-06AF-87846B060156}"/>
              </a:ext>
            </a:extLst>
          </p:cNvPr>
          <p:cNvSpPr txBox="1"/>
          <p:nvPr/>
        </p:nvSpPr>
        <p:spPr>
          <a:xfrm>
            <a:off x="704528" y="1679138"/>
            <a:ext cx="87556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 err="1"/>
              <a:t>Padding</a:t>
            </a:r>
            <a:r>
              <a:rPr lang="fr-FR" b="1" dirty="0"/>
              <a:t> CSS</a:t>
            </a:r>
            <a:br>
              <a:rPr lang="fr-FR" b="1" dirty="0"/>
            </a:br>
            <a:endParaRPr lang="fr-FR" b="1" dirty="0"/>
          </a:p>
          <a:p>
            <a:pPr>
              <a:buNone/>
            </a:pPr>
            <a:r>
              <a:rPr lang="fr-FR" dirty="0"/>
              <a:t>Les propriétés de rembourrage CSS sont utilisées pour générer de l'espace autour le contenu d'un élément, à l'intérieur de toutes les frontières définies.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Avec CSS, vous avez un contrôle total sur le rembourrage. Il y a des propriétés pour régler le rembourrage de chaque côté d'un élément (en haut, à droite, en bas et à gauche), et une propriété abrégée pour définir toutes les propriétés de rembourrage en une seule déclaration.</a:t>
            </a:r>
          </a:p>
        </p:txBody>
      </p:sp>
      <p:pic>
        <p:nvPicPr>
          <p:cNvPr id="8" name="Image 7" descr="Une image contenant texte, Police, capture d’écran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B91A3BFC-965C-D8E1-2811-B8D31442E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269" y="4406365"/>
            <a:ext cx="4155171" cy="229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4910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E154D-0E6A-FFE0-1079-CE7608F7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91350D4-B6AF-28CF-8BE9-7B4FC8FA0B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4AEF5E5B-6627-4894-4B34-88B611B04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7487446-C819-9983-5C98-D75BFB351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60AB5D3-DC82-2094-827D-3C91BEE66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CB0FDE4-DDA6-70C6-B78A-BE0282E09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3F0A3B6-D76E-0896-7FBB-1F1EA7445E9B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475AB1-D31C-11E7-CB2C-A06B134FC3C2}"/>
              </a:ext>
            </a:extLst>
          </p:cNvPr>
          <p:cNvSpPr txBox="1"/>
          <p:nvPr/>
        </p:nvSpPr>
        <p:spPr>
          <a:xfrm>
            <a:off x="632520" y="2136338"/>
            <a:ext cx="70138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Si le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padding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 a trois valeurs: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rembourrage: 25px 50px 75px;</a:t>
            </a:r>
            <a:br>
              <a:rPr lang="fr-FR" b="1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 rembourrage supérieur est 25px</a:t>
            </a:r>
            <a:br>
              <a:rPr lang="fr-FR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Les rembourrages à droite et à gauche sont de 50px</a:t>
            </a:r>
            <a:br>
              <a:rPr lang="fr-FR" dirty="0"/>
            </a:b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 rembourrage inférieur est de 75px</a:t>
            </a:r>
          </a:p>
        </p:txBody>
      </p:sp>
      <p:pic>
        <p:nvPicPr>
          <p:cNvPr id="13" name="Image 12" descr="Une image contenant texte, Police, ligne, blanc&#10;&#10;Le contenu généré par l’IA peut être incorrect.">
            <a:extLst>
              <a:ext uri="{FF2B5EF4-FFF2-40B4-BE49-F238E27FC236}">
                <a16:creationId xmlns:a16="http://schemas.microsoft.com/office/drawing/2014/main" id="{4B0F1E00-B66B-4E69-ADC4-2CFFB6BF2B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7774" y="4941168"/>
            <a:ext cx="4358641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8200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DB5E-7319-06C2-ACFC-96EA4F46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555D966-D59F-1ECE-B02C-554DF3EDED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3B7A25E5-0A85-C1B1-53B5-3292505C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3F2CFE-E78F-EDD9-2CCA-ED896AAA9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01C53D1-DC12-8DB6-F696-D3670A131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90C2053-027C-195E-33F2-7C75E8C2E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56FC5F0-B5C7-898D-E595-C74FE17CC9FC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C4DB4F-0E7A-DDB7-ABAB-8B1A67A0CFE9}"/>
              </a:ext>
            </a:extLst>
          </p:cNvPr>
          <p:cNvSpPr txBox="1"/>
          <p:nvPr/>
        </p:nvSpPr>
        <p:spPr>
          <a:xfrm>
            <a:off x="848544" y="1628800"/>
            <a:ext cx="86409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CSS Définir la hauteur et la largeur</a:t>
            </a:r>
            <a:br>
              <a:rPr lang="fr-FR" b="1" dirty="0"/>
            </a:br>
            <a:endParaRPr lang="fr-FR" b="1" dirty="0"/>
          </a:p>
          <a:p>
            <a:pPr>
              <a:buNone/>
            </a:pPr>
            <a:r>
              <a:rPr lang="fr-FR" dirty="0"/>
              <a:t>Le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height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et </a:t>
            </a:r>
            <a:r>
              <a:rPr lang="fr-FR" dirty="0" err="1">
                <a:latin typeface="Courier New" panose="02070309020205020404" pitchFamily="49" charset="0"/>
                <a:hlinkClick r:id="rId6"/>
              </a:rPr>
              <a:t>width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propriétés sont utilisées pour définir le hauteur et largeur d'un élément.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La hauteur et la largeur n'incluent pas le rembourrage, les bordures ou les marges. Il définit la hauteur et la largeur de la zone à l'intérieur du rembourrage, de la bordure et de la marge de l'élément.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830404B-C17D-AEFB-7456-BC876517DC94}"/>
              </a:ext>
            </a:extLst>
          </p:cNvPr>
          <p:cNvSpPr txBox="1"/>
          <p:nvPr/>
        </p:nvSpPr>
        <p:spPr>
          <a:xfrm>
            <a:off x="1136576" y="4116645"/>
            <a:ext cx="82766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Le </a:t>
            </a:r>
            <a:r>
              <a:rPr lang="fr-FR" dirty="0" err="1">
                <a:latin typeface="Courier New" panose="02070309020205020404" pitchFamily="49" charset="0"/>
                <a:hlinkClick r:id="rId5"/>
              </a:rPr>
              <a:t>height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et </a:t>
            </a:r>
            <a:r>
              <a:rPr lang="fr-FR" dirty="0" err="1">
                <a:latin typeface="Courier New" panose="02070309020205020404" pitchFamily="49" charset="0"/>
                <a:hlinkClick r:id="rId6"/>
              </a:rPr>
              <a:t>width</a:t>
            </a:r>
            <a:r>
              <a:rPr lang="fr-FR" dirty="0">
                <a:latin typeface="Courier New" panose="02070309020205020404" pitchFamily="49" charset="0"/>
              </a:rPr>
              <a:t> </a:t>
            </a:r>
            <a:r>
              <a:rPr lang="fr-FR" dirty="0"/>
              <a:t>propriétés peut avoir les valeurs suivantes: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ourier New" panose="02070309020205020404" pitchFamily="49" charset="0"/>
              </a:rPr>
              <a:t>auto</a:t>
            </a:r>
            <a:r>
              <a:rPr lang="fr-FR" dirty="0"/>
              <a:t>- C'est par défaut. Le navigateur calcule la hauteur et la largeur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latin typeface="Courier New" panose="02070309020205020404" pitchFamily="49" charset="0"/>
              </a:rPr>
              <a:t>length</a:t>
            </a:r>
            <a:r>
              <a:rPr lang="fr-FR" dirty="0"/>
              <a:t>- Définit la hauteur ou la largeur en px, cm, </a:t>
            </a:r>
            <a:r>
              <a:rPr lang="fr-FR" dirty="0" err="1"/>
              <a:t>em</a:t>
            </a:r>
            <a:r>
              <a:rPr lang="fr-FR" dirty="0"/>
              <a:t>, etc.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ourier New" panose="02070309020205020404" pitchFamily="49" charset="0"/>
              </a:rPr>
              <a:t>initial</a:t>
            </a:r>
            <a:r>
              <a:rPr lang="fr-FR" dirty="0"/>
              <a:t>- </a:t>
            </a:r>
            <a:r>
              <a:rPr lang="fr-FR" dirty="0" err="1"/>
              <a:t>Régle</a:t>
            </a:r>
            <a:r>
              <a:rPr lang="fr-FR" dirty="0"/>
              <a:t> la hauteur ou la largeur à son valeur par défaut</a:t>
            </a:r>
            <a:br>
              <a:rPr lang="fr-FR" dirty="0"/>
            </a:b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latin typeface="Courier New" panose="02070309020205020404" pitchFamily="49" charset="0"/>
              </a:rPr>
              <a:t>inherit</a:t>
            </a:r>
            <a:r>
              <a:rPr lang="fr-FR" dirty="0"/>
              <a:t>- La hauteur ou la largeur sera hérité de sa valeur parentale</a:t>
            </a:r>
          </a:p>
        </p:txBody>
      </p:sp>
    </p:spTree>
    <p:extLst>
      <p:ext uri="{BB962C8B-B14F-4D97-AF65-F5344CB8AC3E}">
        <p14:creationId xmlns:p14="http://schemas.microsoft.com/office/powerpoint/2010/main" val="3697957542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E5A18-89CD-29B1-8F64-366736DF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223150B-0CB4-2A04-3710-ACAEE43E18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CD5BEB4C-592E-A022-EB55-15DA388E4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7D15406-4433-CB3D-8438-9CD46ABC7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DEA6915-38E2-05CF-9213-927CB4289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C66D250-9396-58B8-E07C-03DB7D68F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44D79A7-483F-5F59-E3EA-F330C6FAC4E9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0E82AA-BED9-6CB2-2098-8A42EB9E3AAB}"/>
              </a:ext>
            </a:extLst>
          </p:cNvPr>
          <p:cNvSpPr txBox="1"/>
          <p:nvPr/>
        </p:nvSpPr>
        <p:spPr>
          <a:xfrm>
            <a:off x="1040594" y="1700808"/>
            <a:ext cx="86512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Le modèle CSS Box</a:t>
            </a:r>
            <a:br>
              <a:rPr lang="fr-FR" b="1" dirty="0"/>
            </a:br>
            <a:endParaRPr lang="fr-FR" b="1" dirty="0"/>
          </a:p>
          <a:p>
            <a:pPr>
              <a:buNone/>
            </a:pPr>
            <a:r>
              <a:rPr lang="fr-FR" dirty="0"/>
              <a:t>Dans CSS, le terme "modèle de boîte" est utilisé lorsque l'on parle de conception et de mise en page Web.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Le modèle de boîte CSS est essentiellement une boîte qui s'enroule autour de chaque élément HTML.&gt;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Chaque boîte se compose de quatre parties: contenu, rembourrage, bordures et marges.</a:t>
            </a:r>
          </a:p>
        </p:txBody>
      </p:sp>
      <p:pic>
        <p:nvPicPr>
          <p:cNvPr id="10" name="Image 9" descr="Une image contenant texte, capture d’écran, affichage, Rectangle&#10;&#10;Le contenu généré par l’IA peut être incorrect.">
            <a:extLst>
              <a:ext uri="{FF2B5EF4-FFF2-40B4-BE49-F238E27FC236}">
                <a16:creationId xmlns:a16="http://schemas.microsoft.com/office/drawing/2014/main" id="{9E8C1F6A-5101-C716-5469-7DA6B9DB7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8704" y="4449595"/>
            <a:ext cx="6070851" cy="228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36530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82C70-CB04-5F26-A225-50BF2F36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DA699A3-DD18-AE3B-1E6F-E215454C79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113FABFC-D484-01AA-9216-010C9C0F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6ECD0B0-A1BF-2804-238E-FD16B7DED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CB887F5-3AB3-6124-83E7-69A15E1EC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5491DEE-37C3-5981-06ED-1F8064565D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E8A6F8B-552B-56AA-3784-0BF1DD03C33E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6969C7-6487-2562-05A8-79F3631AB0E1}"/>
              </a:ext>
            </a:extLst>
          </p:cNvPr>
          <p:cNvSpPr txBox="1"/>
          <p:nvPr/>
        </p:nvSpPr>
        <p:spPr>
          <a:xfrm>
            <a:off x="1040594" y="1700808"/>
            <a:ext cx="86512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Le modèle CSS Box</a:t>
            </a:r>
            <a:br>
              <a:rPr lang="fr-FR" b="1" dirty="0"/>
            </a:br>
            <a:endParaRPr lang="fr-FR" b="1" dirty="0"/>
          </a:p>
          <a:p>
            <a:pPr>
              <a:buNone/>
            </a:pPr>
            <a:r>
              <a:rPr lang="fr-FR" dirty="0"/>
              <a:t>Dans CSS, le terme "modèle de boîte" est utilisé lorsque l'on parle de conception et de mise en page Web.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Le modèle de boîte CSS est essentiellement une boîte qui s'enroule autour de chaque élément HTML.&gt;</a:t>
            </a: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dirty="0"/>
              <a:t>Chaque boîte se compose de quatre parties: contenu, rembourrage, bordures et marges.</a:t>
            </a:r>
          </a:p>
        </p:txBody>
      </p:sp>
      <p:pic>
        <p:nvPicPr>
          <p:cNvPr id="10" name="Image 9" descr="Une image contenant texte, capture d’écran, affichage, Rectangle&#10;&#10;Le contenu généré par l’IA peut être incorrect.">
            <a:extLst>
              <a:ext uri="{FF2B5EF4-FFF2-40B4-BE49-F238E27FC236}">
                <a16:creationId xmlns:a16="http://schemas.microsoft.com/office/drawing/2014/main" id="{0F95392D-471D-0D36-8BE5-B5004B1DE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8704" y="4449595"/>
            <a:ext cx="6070851" cy="228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1475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29C1-0336-B167-095E-C03FDB0C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44BD531-D21C-5F3B-C400-1F9167A041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9426" y="129748"/>
            <a:ext cx="2160290" cy="558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altLang="fr-FR" sz="3600" dirty="0"/>
              <a:t>DWWM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A4FA8B54-4298-D5A7-D5FB-EF54EC8AA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327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defTabSz="914400"/>
            <a:endParaRPr lang="fr-FR" altLang="fr-FR" sz="2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410D7D6-B9B6-0CD0-E9A1-4613EEB89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127222"/>
            <a:ext cx="778376" cy="6702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076B025-989D-025C-DE7C-F739CA198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94336"/>
            <a:ext cx="778376" cy="6988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5104EF4-47A2-443B-96EC-63F0FE7DA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44" y="156032"/>
            <a:ext cx="2926080" cy="6126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ECF006D-6B2A-38FE-9EDB-288441BC2907}"/>
              </a:ext>
            </a:extLst>
          </p:cNvPr>
          <p:cNvSpPr txBox="1"/>
          <p:nvPr/>
        </p:nvSpPr>
        <p:spPr>
          <a:xfrm>
            <a:off x="1333007" y="710625"/>
            <a:ext cx="2713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/>
              <a:t>CSS Syntaxe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7CA4881-C748-10B0-48AF-DEC43445C899}"/>
              </a:ext>
            </a:extLst>
          </p:cNvPr>
          <p:cNvSpPr txBox="1"/>
          <p:nvPr/>
        </p:nvSpPr>
        <p:spPr>
          <a:xfrm>
            <a:off x="848544" y="1817638"/>
            <a:ext cx="86512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Explication des différentes parties (de la partie la plus interne à la partie la plus externe):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Content</a:t>
            </a:r>
            <a:r>
              <a:rPr lang="fr-FR" dirty="0"/>
              <a:t> - Le contenu de la boîte, où le texte et les images apparaissent</a:t>
            </a:r>
          </a:p>
          <a:p>
            <a:r>
              <a:rPr lang="fr-FR" b="1" dirty="0" err="1"/>
              <a:t>Padding</a:t>
            </a:r>
            <a:r>
              <a:rPr lang="fr-FR" dirty="0"/>
              <a:t> - Efface une zone autour du contenu. Le rembourrage est transparent</a:t>
            </a:r>
          </a:p>
          <a:p>
            <a:r>
              <a:rPr lang="fr-FR" b="1" dirty="0"/>
              <a:t>Border</a:t>
            </a:r>
            <a:r>
              <a:rPr lang="fr-FR" dirty="0"/>
              <a:t> - Une frontière qui fait le tour du rembourrage et du contenu</a:t>
            </a:r>
          </a:p>
          <a:p>
            <a:r>
              <a:rPr lang="fr-FR" b="1" dirty="0" err="1"/>
              <a:t>Margin</a:t>
            </a:r>
            <a:r>
              <a:rPr lang="fr-FR" dirty="0"/>
              <a:t> - Efface une zone en dehors de la frontière. La marge est transparente.</a:t>
            </a:r>
          </a:p>
          <a:p>
            <a:pPr>
              <a:buNone/>
            </a:pPr>
            <a:endParaRPr lang="fr-FR" dirty="0"/>
          </a:p>
        </p:txBody>
      </p:sp>
      <p:pic>
        <p:nvPicPr>
          <p:cNvPr id="10" name="Image 9" descr="Une image contenant texte, capture d’écran, affichage, Rectangle&#10;&#10;Le contenu généré par l’IA peut être incorrect.">
            <a:extLst>
              <a:ext uri="{FF2B5EF4-FFF2-40B4-BE49-F238E27FC236}">
                <a16:creationId xmlns:a16="http://schemas.microsoft.com/office/drawing/2014/main" id="{8D9C5E61-16FF-80D0-97C1-D5AB7EFAA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8704" y="4449595"/>
            <a:ext cx="6070851" cy="228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1737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kreacom">
  <a:themeElements>
    <a:clrScheme name="">
      <a:dk1>
        <a:srgbClr val="000000"/>
      </a:dk1>
      <a:lt1>
        <a:srgbClr val="FFFFFF"/>
      </a:lt1>
      <a:dk2>
        <a:srgbClr val="000099"/>
      </a:dk2>
      <a:lt2>
        <a:srgbClr val="FF9900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kreacom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0" rIns="9144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838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0" rIns="9144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838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kreaco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reaco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reaco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reaco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reaco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reaco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reaco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948</TotalTime>
  <Words>1077</Words>
  <Application>Microsoft Office PowerPoint</Application>
  <PresentationFormat>Format A4 (210 x 297 mm)</PresentationFormat>
  <Paragraphs>107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Courier New</vt:lpstr>
      <vt:lpstr>Tahoma</vt:lpstr>
      <vt:lpstr>Times New Roman</vt:lpstr>
      <vt:lpstr>Trebuchet MS</vt:lpstr>
      <vt:lpstr>Wingdings</vt:lpstr>
      <vt:lpstr>kreacom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  <vt:lpstr>DWWM</vt:lpstr>
    </vt:vector>
  </TitlesOfParts>
  <Company>Kreacom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Langevin Eric</dc:creator>
  <cp:lastModifiedBy>Thomas Darras</cp:lastModifiedBy>
  <cp:revision>345</cp:revision>
  <dcterms:created xsi:type="dcterms:W3CDTF">2005-01-13T22:21:49Z</dcterms:created>
  <dcterms:modified xsi:type="dcterms:W3CDTF">2025-12-10T08:06:37Z</dcterms:modified>
</cp:coreProperties>
</file>